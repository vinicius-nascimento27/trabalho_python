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51" r:id="rId4"/>
    <p:sldId id="352" r:id="rId5"/>
    <p:sldId id="356" r:id="rId6"/>
    <p:sldId id="361" r:id="rId7"/>
    <p:sldId id="348" r:id="rId8"/>
    <p:sldId id="357" r:id="rId9"/>
    <p:sldId id="359" r:id="rId10"/>
    <p:sldId id="360" r:id="rId11"/>
    <p:sldId id="35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6" roundtripDataSignature="AMtx7miZINGxohdSI15Xcu5c/inuvMYF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B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B242C-9A92-4277-842D-B6B3DD457063}">
  <a:tblStyle styleId="{A82B242C-9A92-4277-842D-B6B3DD4570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76DA97-062D-4256-B02D-CCDC2C70CBB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0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08" Type="http://schemas.openxmlformats.org/officeDocument/2006/relationships/viewProps" Target="viewProps.xml"/><Relationship Id="rId2" Type="http://schemas.openxmlformats.org/officeDocument/2006/relationships/slide" Target="slides/slide1.xml"/><Relationship Id="rId10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106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811A4D73-89D4-2EFE-FB51-87442DBA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E421ACD-6D3E-64B3-983E-451A65B84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B2E285F-6061-5901-988C-96E2E22EE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5923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0718EAB-94C9-F5BF-B467-0934FC42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3E85D5F-A6D6-938B-8163-25F84A2C0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E8FEA9B-4E20-B35F-5733-0CB203D12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7261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917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58CCF25A-6E4B-A313-2DDD-D672279F9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081C231E-9BF2-A2A7-26AD-3B3DE71FA2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E8F1AB8-7645-227D-069C-FD99F9447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2339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5553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3592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2F5C63C-9EC6-14C6-DB0F-975C1246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A44B282-436D-8B75-9F65-C0CECFB1A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1128941A-2C5D-1B82-5BE1-52E07EA70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7864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376C2818-9545-28FA-0ACC-2838439AD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F06A054-9EDF-B969-7F23-FE54526B2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1F97F64-870D-ADFF-D072-FBCC72B153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621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981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6000"/>
              <a:buFont typeface="Calibri"/>
              <a:buNone/>
              <a:defRPr sz="6000" b="1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4"/>
          <p:cNvSpPr txBox="1">
            <a:spLocks noGrp="1"/>
          </p:cNvSpPr>
          <p:nvPr>
            <p:ph type="subTitle" idx="1"/>
          </p:nvPr>
        </p:nvSpPr>
        <p:spPr>
          <a:xfrm>
            <a:off x="1524000" y="3832860"/>
            <a:ext cx="9144000" cy="120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" name="Google Shape;23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3900" y="118140"/>
            <a:ext cx="1961949" cy="163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4" descr="Resultado de imagem para python worl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8545" y="0"/>
            <a:ext cx="1893455" cy="189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5"/>
          <p:cNvSpPr txBox="1">
            <a:spLocks noGrp="1"/>
          </p:cNvSpPr>
          <p:nvPr>
            <p:ph type="title"/>
          </p:nvPr>
        </p:nvSpPr>
        <p:spPr>
          <a:xfrm>
            <a:off x="465333" y="136525"/>
            <a:ext cx="10515600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5"/>
          <p:cNvSpPr txBox="1">
            <a:spLocks noGrp="1"/>
          </p:cNvSpPr>
          <p:nvPr>
            <p:ph type="body" idx="1"/>
          </p:nvPr>
        </p:nvSpPr>
        <p:spPr>
          <a:xfrm>
            <a:off x="465333" y="1411550"/>
            <a:ext cx="10888467" cy="4765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5"/>
          <p:cNvSpPr txBox="1">
            <a:spLocks noGrp="1"/>
          </p:cNvSpPr>
          <p:nvPr>
            <p:ph type="dt" idx="10"/>
          </p:nvPr>
        </p:nvSpPr>
        <p:spPr>
          <a:xfrm>
            <a:off x="60122" y="6434415"/>
            <a:ext cx="10083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7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9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9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0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3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3"/>
          <p:cNvSpPr txBox="1">
            <a:spLocks noGrp="1"/>
          </p:cNvSpPr>
          <p:nvPr>
            <p:ph type="body" idx="1"/>
          </p:nvPr>
        </p:nvSpPr>
        <p:spPr>
          <a:xfrm rot="5400000">
            <a:off x="3720692" y="-1625561"/>
            <a:ext cx="4534594" cy="11070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3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3"/>
          <p:cNvSpPr txBox="1">
            <a:spLocks noGrp="1"/>
          </p:cNvSpPr>
          <p:nvPr>
            <p:ph type="body" idx="1"/>
          </p:nvPr>
        </p:nvSpPr>
        <p:spPr>
          <a:xfrm>
            <a:off x="452761" y="1642369"/>
            <a:ext cx="11070455" cy="453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infracoes_veiculos_2024.cs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595223" y="1897811"/>
            <a:ext cx="10541479" cy="1720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r>
              <a:rPr lang="pt-BR" dirty="0"/>
              <a:t>Infrações de veículos em 2024 por região do estado do Rio de Janeiro</a:t>
            </a:r>
            <a:endParaRPr dirty="0"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626091" y="4135902"/>
            <a:ext cx="9419208" cy="98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pt-BR" dirty="0"/>
              <a:t>Trabalho Extensionista de Tópicos de Big Data 2025.2</a:t>
            </a:r>
            <a:endParaRPr dirty="0"/>
          </a:p>
        </p:txBody>
      </p:sp>
      <p:sp>
        <p:nvSpPr>
          <p:cNvPr id="4" name="Google Shape;22;p94">
            <a:extLst>
              <a:ext uri="{FF2B5EF4-FFF2-40B4-BE49-F238E27FC236}">
                <a16:creationId xmlns:a16="http://schemas.microsoft.com/office/drawing/2014/main" id="{B9DD900B-3010-4358-BEF8-7D5FA7B62146}"/>
              </a:ext>
            </a:extLst>
          </p:cNvPr>
          <p:cNvSpPr/>
          <p:nvPr/>
        </p:nvSpPr>
        <p:spPr>
          <a:xfrm>
            <a:off x="2684583" y="5642371"/>
            <a:ext cx="767574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pt-BR" sz="2800" b="1" i="0" u="none" strike="noStrike" cap="none" dirty="0">
                <a:solidFill>
                  <a:srgbClr val="4AB0A3"/>
                </a:solidFill>
                <a:latin typeface="Calibri"/>
                <a:cs typeface="Calibri"/>
                <a:sym typeface="Calibri"/>
              </a:rPr>
              <a:t>Bernardo Veloso da Silva </a:t>
            </a:r>
            <a:r>
              <a:rPr lang="pt-BR" sz="2800" dirty="0"/>
              <a:t>— </a:t>
            </a:r>
            <a:r>
              <a:rPr lang="pt-BR" sz="2800" b="1" i="0" u="none" strike="noStrike" cap="none" dirty="0">
                <a:solidFill>
                  <a:srgbClr val="4AB0A3"/>
                </a:solidFill>
                <a:latin typeface="Calibri"/>
                <a:cs typeface="Calibri"/>
                <a:sym typeface="Calibri"/>
              </a:rPr>
              <a:t>202502330103</a:t>
            </a:r>
          </a:p>
          <a:p>
            <a:pPr algn="ctr"/>
            <a:r>
              <a:rPr lang="pt-BR" sz="2800" b="1" dirty="0">
                <a:solidFill>
                  <a:srgbClr val="4AB0A3"/>
                </a:solidFill>
                <a:latin typeface="Calibri"/>
                <a:cs typeface="Calibri"/>
                <a:sym typeface="Calibri"/>
              </a:rPr>
              <a:t>Vinicius Souto do Nascimento </a:t>
            </a:r>
            <a:r>
              <a:rPr lang="pt-BR" sz="2800" dirty="0"/>
              <a:t>— </a:t>
            </a:r>
            <a:r>
              <a:rPr lang="pt-BR" sz="2800" b="1" dirty="0">
                <a:solidFill>
                  <a:srgbClr val="4AB0A3"/>
                </a:solidFill>
              </a:rPr>
              <a:t>202403318032</a:t>
            </a:r>
            <a:endParaRPr b="1" dirty="0">
              <a:solidFill>
                <a:srgbClr val="4AB0A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rgbClr val="000080"/>
              </a:buClr>
              <a:buSzPts val="4400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Objetivo Geral</a:t>
            </a:r>
          </a:p>
        </p:txBody>
      </p:sp>
      <p:sp>
        <p:nvSpPr>
          <p:cNvPr id="5" name="Google Shape;240;p15">
            <a:extLst>
              <a:ext uri="{FF2B5EF4-FFF2-40B4-BE49-F238E27FC236}">
                <a16:creationId xmlns:a16="http://schemas.microsoft.com/office/drawing/2014/main" id="{FA333591-8A2D-4E49-932A-E6C6463221BC}"/>
              </a:ext>
            </a:extLst>
          </p:cNvPr>
          <p:cNvSpPr txBox="1"/>
          <p:nvPr/>
        </p:nvSpPr>
        <p:spPr>
          <a:xfrm>
            <a:off x="8571507" y="387224"/>
            <a:ext cx="3291839" cy="83045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6" name="Google Shape;106;p2"/>
          <p:cNvSpPr txBox="1">
            <a:spLocks noGrp="1"/>
          </p:cNvSpPr>
          <p:nvPr>
            <p:ph type="sldNum" idx="12"/>
          </p:nvPr>
        </p:nvSpPr>
        <p:spPr>
          <a:xfrm>
            <a:off x="11704320" y="6431079"/>
            <a:ext cx="448056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508803" y="2325132"/>
            <a:ext cx="11174394" cy="2139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3200" b="1" dirty="0"/>
              <a:t>  O objetivo desse trabalho de extensão é apresentar uma análise de dados de big data sobre as infrações de trânsito em 2024 por cada região do estado do Rio de Janeiro.</a:t>
            </a:r>
            <a:endParaRPr lang="en-US" sz="3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414A2E56-5448-551C-207C-34ABE589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FF045429-AA6B-CB55-C62E-4C159B34C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rgbClr val="000080"/>
              </a:buClr>
              <a:buSzPts val="4400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Base de Dados Usada</a:t>
            </a:r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FB3F625B-7B1A-9191-C7A6-844EF37F6F73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A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análise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foi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feita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partir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um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arquivo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registros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infrações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2024 do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Detran-Rj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contendo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informações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sobre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mês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tipo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veículo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a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região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onde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ocorreu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Após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limpeza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mantivemos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apenas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regiões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veículos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 alto volume de dados para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garantir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resultados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relevantes</a:t>
            </a:r>
            <a:r>
              <a:rPr lang="en-US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Arquivo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0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action="ppaction://hlinkfile"/>
              </a:rPr>
              <a:t>infracoes_veiculos_2024.csv</a:t>
            </a:r>
            <a:endParaRPr lang="en-US" sz="20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67FF3AFA-5B93-9EE5-AE87-0DDE8400DE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29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851D81CB-11E2-C006-D516-22B1820D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9240E3F4-9A3B-BB13-6387-B806A9BF2A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rgbClr val="000080"/>
              </a:buClr>
              <a:buSzPts val="4400"/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Tecnologia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Usadas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desenvolvimento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391DC9F7-289C-4215-4A2D-6B415E7C2377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i="0" u="none" strike="noStrike" kern="1200" cap="none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C120D90-4761-1D4A-7809-00D0CE81DE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B281AE-8F58-47E8-6C45-37174908A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24" y="2570310"/>
            <a:ext cx="7507979" cy="2348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</a:t>
            </a:r>
            <a:r>
              <a:rPr lang="pt-BR" sz="2400" dirty="0"/>
              <a:t>— para organizar os dados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 </a:t>
            </a:r>
            <a:r>
              <a:rPr lang="pt-BR" sz="2400" dirty="0"/>
              <a:t>— para cálculos numéricos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</a:t>
            </a:r>
            <a:r>
              <a:rPr lang="pt-BR" sz="2400" dirty="0"/>
              <a:t>— para criar os gráficos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Ambiente: </a:t>
            </a:r>
            <a:r>
              <a:rPr lang="pt-BR" sz="2400" b="1" dirty="0"/>
              <a:t>Google Colab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apoio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estruturação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código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4166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7BB6E542-2B81-D7AB-3994-52A8EB62CA92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 cap="none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Distribuição</a:t>
            </a:r>
            <a:r>
              <a:rPr lang="en-US" sz="4000" b="1" i="0" u="none" strike="noStrike" kern="1200" cap="none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 de </a:t>
            </a:r>
            <a:r>
              <a:rPr lang="en-US" sz="4000" b="1" i="0" u="none" strike="noStrike" kern="1200" cap="none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Frequência</a:t>
            </a:r>
            <a:endParaRPr lang="en-US" sz="4000" b="1" i="0" u="none" strike="noStrike" kern="1200" cap="none" dirty="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19" y="6455664"/>
            <a:ext cx="448056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3818EF-3B7D-5858-B8E0-60836C778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985" y="2704636"/>
            <a:ext cx="7972026" cy="302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96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570B69B4-EBA0-2B63-0CDA-A3E5DE407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16BDBAF6-737C-33A9-C397-69F90694438D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Estatísticas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Descritivas</a:t>
            </a:r>
            <a:endParaRPr lang="en-US" sz="4000" b="1" i="0" u="none" strike="noStrike" kern="1200" cap="none" dirty="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Google Shape;108;p2">
            <a:extLst>
              <a:ext uri="{FF2B5EF4-FFF2-40B4-BE49-F238E27FC236}">
                <a16:creationId xmlns:a16="http://schemas.microsoft.com/office/drawing/2014/main" id="{AE72A994-D32B-E132-7804-2B13FA735A14}"/>
              </a:ext>
            </a:extLst>
          </p:cNvPr>
          <p:cNvSpPr txBox="1"/>
          <p:nvPr/>
        </p:nvSpPr>
        <p:spPr>
          <a:xfrm>
            <a:off x="796404" y="2406316"/>
            <a:ext cx="7332452" cy="323264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Média</a:t>
            </a:r>
            <a:r>
              <a: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580.521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Mediana: 201.827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Desvio</a:t>
            </a:r>
            <a:r>
              <a: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padrão</a:t>
            </a:r>
            <a:r>
              <a: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1.026.642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Máximo: 3.262.328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Mínimo</a:t>
            </a:r>
            <a:r>
              <a: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45.002</a:t>
            </a:r>
            <a:endParaRPr lang="en-US" sz="3200" b="1" i="0" u="none" strike="noStrike" kern="1200" cap="none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D1B7F8A7-AB68-DE69-E1F3-22D0764205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19" y="6455664"/>
            <a:ext cx="448056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53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7BB6E542-2B81-D7AB-3994-52A8EB62CA92}"/>
              </a:ext>
            </a:extLst>
          </p:cNvPr>
          <p:cNvSpPr txBox="1"/>
          <p:nvPr/>
        </p:nvSpPr>
        <p:spPr>
          <a:xfrm>
            <a:off x="660147" y="503883"/>
            <a:ext cx="7759953" cy="3522569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Regressão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Linear (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Tendência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Mensal):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Inclinação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(a): 20.600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Intercepto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(b): 301.484</a:t>
            </a:r>
            <a:endParaRPr lang="en-US" sz="2000" b="1" i="0" u="none" strike="noStrike" kern="1200" cap="none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BF7EAD7-80AA-500C-FB2E-DC6009943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73641" y="896006"/>
            <a:ext cx="7058212" cy="525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664"/>
            <a:ext cx="448056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7</a:t>
            </a:fld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212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4" name="Rectangle 309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6" name="Rectangle 309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0" name="Rectangle 309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7BB6E542-2B81-D7AB-3994-52A8EB62CA92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571500" marR="0" lvl="0" indent="-5715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Grafico de barras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7EA567C-323A-8F75-BD66-FA019157B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6526" y="1574310"/>
            <a:ext cx="10598943" cy="5246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19" y="6455664"/>
            <a:ext cx="448056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3891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9228E7D5-EDD9-2000-C69F-44A84279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6" name="Rectangle 41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8" name="Rectangle 41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0" name="Rectangle 41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2" name="Rectangle 41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B0C34AB2-6CDD-C7DD-21FC-6F200FE81819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571500" marR="0" lvl="0" indent="-5715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Grafico de barras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D20170E-132E-7DC3-B1D1-5FDB35AAD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0897" y="1574310"/>
            <a:ext cx="10674117" cy="528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813E633E-1776-7288-A9E6-5611E037C0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19" y="6455664"/>
            <a:ext cx="448056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0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6E21DA81-6FAB-33ED-F235-1227FD42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7" name="Rectangle 41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9" name="Rectangle 412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1" name="Rectangle 413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3" name="Rectangle 413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7DFAB86B-071A-80C1-3911-4925A4CA5356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571500" marR="0" lvl="0" indent="-5715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i="0" u="none" strike="noStrike" kern="12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Tabela Região x Tipo de veículo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DA9BD8-81B7-AFAC-E882-49AAC2368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7" y="2566114"/>
            <a:ext cx="11995182" cy="2848854"/>
          </a:xfrm>
          <a:prstGeom prst="rect">
            <a:avLst/>
          </a:prstGeom>
        </p:spPr>
      </p:pic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B86710A0-9AF1-F007-2F41-58323D3B34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19" y="6455664"/>
            <a:ext cx="448056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881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1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rgbClr val="000080"/>
              </a:buClr>
              <a:buSzPts val="4400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Conclusão</a:t>
            </a:r>
          </a:p>
        </p:txBody>
      </p:sp>
      <p:sp>
        <p:nvSpPr>
          <p:cNvPr id="8" name="Google Shape;108;p2">
            <a:extLst>
              <a:ext uri="{FF2B5EF4-FFF2-40B4-BE49-F238E27FC236}">
                <a16:creationId xmlns:a16="http://schemas.microsoft.com/office/drawing/2014/main" id="{9290040D-DCB0-42D2-8D2E-EA50225ACBF1}"/>
              </a:ext>
            </a:extLst>
          </p:cNvPr>
          <p:cNvSpPr txBox="1"/>
          <p:nvPr/>
        </p:nvSpPr>
        <p:spPr>
          <a:xfrm>
            <a:off x="1233982" y="2178061"/>
            <a:ext cx="9724031" cy="368335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algn="just">
              <a:lnSpc>
                <a:spcPct val="90000"/>
              </a:lnSpc>
              <a:spcAft>
                <a:spcPts val="600"/>
              </a:spcAft>
            </a:pP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O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estudo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permitiu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identificar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padrões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consistentes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nas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infrações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trânsito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2024,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evidenciando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quais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regiões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concentram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maior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número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ocorrências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certos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tipos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veículos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influenciam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esse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cenário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lvl="0" algn="just">
              <a:lnSpc>
                <a:spcPct val="90000"/>
              </a:lnSpc>
              <a:spcAft>
                <a:spcPts val="600"/>
              </a:spcAft>
            </a:pP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A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análise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contribuiu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para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compreender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melhor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comportamento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viário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estado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forneceu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um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retrato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claro da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distribuição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das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infrações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2800" b="1" i="0" u="none" strike="noStrike" kern="1200" cap="none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92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289</Words>
  <Application>Microsoft Office PowerPoint</Application>
  <PresentationFormat>Widescreen</PresentationFormat>
  <Paragraphs>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Arial</vt:lpstr>
      <vt:lpstr>Tema do Office</vt:lpstr>
      <vt:lpstr>Infrações de veículos em 2024 por região do estado do Rio de Janeiro</vt:lpstr>
      <vt:lpstr>Objetivo Geral</vt:lpstr>
      <vt:lpstr>Base de Dados Usada</vt:lpstr>
      <vt:lpstr>Tecnologia Usadas no desenvolvimento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&lt;Nome do Sistema&gt;</dc:title>
  <dc:creator>simone gama</dc:creator>
  <cp:lastModifiedBy>BERNARDO VELOSO DA SILVA</cp:lastModifiedBy>
  <cp:revision>10</cp:revision>
  <dcterms:created xsi:type="dcterms:W3CDTF">2020-01-31T14:11:17Z</dcterms:created>
  <dcterms:modified xsi:type="dcterms:W3CDTF">2025-11-20T19:21:48Z</dcterms:modified>
</cp:coreProperties>
</file>